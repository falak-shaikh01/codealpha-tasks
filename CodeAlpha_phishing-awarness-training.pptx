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2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5576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27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37460" y="91440"/>
            <a:ext cx="3840480" cy="3840480"/>
          </a:xfrm>
          <a:prstGeom prst="ellipse">
            <a:avLst/>
          </a:prstGeom>
          <a:solidFill>
            <a:srgbClr val="223756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4377690"/>
            <a:ext cx="2377440" cy="2377440"/>
          </a:xfrm>
          <a:prstGeom prst="ellipse">
            <a:avLst/>
          </a:prstGeom>
          <a:solidFill>
            <a:srgbClr val="223756"/>
          </a:solidFill>
          <a:ln/>
        </p:spPr>
      </p:sp>
      <p:sp>
        <p:nvSpPr>
          <p:cNvPr id="4" name="Shape 2"/>
          <p:cNvSpPr/>
          <p:nvPr/>
        </p:nvSpPr>
        <p:spPr>
          <a:xfrm>
            <a:off x="1074420" y="1028700"/>
            <a:ext cx="1051560" cy="1051560"/>
          </a:xfrm>
          <a:prstGeom prst="ellipse">
            <a:avLst/>
          </a:prstGeom>
          <a:solidFill>
            <a:srgbClr val="0F9DA6"/>
          </a:solidFill>
          <a:ln/>
        </p:spPr>
      </p:sp>
      <p:pic>
        <p:nvPicPr>
          <p:cNvPr id="5" name="Image 0" descr="/home/claude/phishing_ppt/icons/fishHoo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10" y="1291590"/>
            <a:ext cx="525780" cy="5257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231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ATTACKS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0F9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How to Protect Yourself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spot the hook before you take the bait, and what to do if you already have.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1097280" cy="0"/>
          </a:xfrm>
          <a:prstGeom prst="line">
            <a:avLst/>
          </a:prstGeom>
          <a:noFill/>
          <a:ln w="38100">
            <a:solidFill>
              <a:srgbClr val="0F9D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STAYING SAFE ONLINE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FALAK SHAIKH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basically a con game that plays out over email, text message, or a phone call. </a:t>
            </a:r>
            <a:r>
              <a:rPr lang="en-US" sz="1550" b="1" dirty="0">
                <a:solidFill>
                  <a:srgbClr val="0F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pretends to be someone you already trust</a:t>
            </a: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your bank, your employer, even a delivery courier. The goal is simple, get you to hand over a password, click on something you shouldn’t, or send money before you’ve had time to really think it through.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40080" y="38862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comes from "fishing." Attackers cast bait across the internet and simply wait for someone to bite.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37960" y="1234440"/>
            <a:ext cx="502920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48856" y="1655064"/>
            <a:ext cx="658368" cy="658368"/>
          </a:xfrm>
          <a:prstGeom prst="ellipse">
            <a:avLst/>
          </a:prstGeom>
          <a:solidFill>
            <a:srgbClr val="D9F0F2"/>
          </a:solidFill>
          <a:ln/>
        </p:spPr>
      </p:sp>
      <p:pic>
        <p:nvPicPr>
          <p:cNvPr id="7" name="Image 0" descr="/home/claude/phishing_ppt/icons/userSecre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600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35240" y="1929384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poses as a trusted brand, colleague, or institution.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48856" y="3136392"/>
            <a:ext cx="658368" cy="658368"/>
          </a:xfrm>
          <a:prstGeom prst="ellipse">
            <a:avLst/>
          </a:prstGeom>
          <a:solidFill>
            <a:srgbClr val="D9F0F2"/>
          </a:solidFill>
          <a:ln/>
        </p:spPr>
      </p:sp>
      <p:pic>
        <p:nvPicPr>
          <p:cNvPr id="11" name="Image 1" descr="/home/claude/phishing_ppt/icons/clo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330098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3081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635240" y="3410712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You’re pushed to act fast, before there’s time to check anything.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48856" y="4617720"/>
            <a:ext cx="658368" cy="658368"/>
          </a:xfrm>
          <a:prstGeom prst="ellipse">
            <a:avLst/>
          </a:prstGeom>
          <a:solidFill>
            <a:srgbClr val="D9F0F2"/>
          </a:solidFill>
          <a:ln/>
        </p:spPr>
      </p:sp>
      <p:pic>
        <p:nvPicPr>
          <p:cNvPr id="15" name="Image 2" descr="/home/claude/phishing_ppt/icons/lin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448" y="478231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35240" y="45628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635240" y="489204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link, attachment, or request built to grab your data the second you engage.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FALAK SHAIKH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 Phishing Attempt Look Like?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example, annotated. The details rarely look as fake as they actually are.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16712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249631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30175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33756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343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KYC Now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9377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0120" y="53035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18120" y="173736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1618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Unofficial domain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0" y="191109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bank uses its real, registered domain, not a lookalike like this one.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18120" y="278892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2670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urgency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0" y="29626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24-hour deadline exists purely to stop you from thinking it over.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18120" y="384048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3721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0" y="40142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bank already has your name on file and would normally use it.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818120" y="489204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4773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46720" y="50657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Hovering shows a web address that has nothing to do with the bank.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FALAK SHAIKH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44CCED1-CAC0-5799-20D8-16EBAC3CF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84591"/>
            <a:ext cx="6194382" cy="39161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VARIANTS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Faces of the Same Trick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83A5C"/>
          </a:solidFill>
          <a:ln/>
        </p:spPr>
      </p:sp>
      <p:sp>
        <p:nvSpPr>
          <p:cNvPr id="5" name="Shape 3"/>
          <p:cNvSpPr/>
          <p:nvPr/>
        </p:nvSpPr>
        <p:spPr>
          <a:xfrm>
            <a:off x="891540" y="1897380"/>
            <a:ext cx="594360" cy="594360"/>
          </a:xfrm>
          <a:prstGeom prst="ellipse">
            <a:avLst/>
          </a:prstGeom>
          <a:solidFill>
            <a:srgbClr val="0F9DA6"/>
          </a:solidFill>
          <a:ln/>
        </p:spPr>
      </p:sp>
      <p:pic>
        <p:nvPicPr>
          <p:cNvPr id="6" name="Image 0" descr="/home/claude/phishing_ppt/icons/envelop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20459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560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8986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sent out to thousands of addresses at once, hoping a small share of people bite.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8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4576572" y="1897380"/>
            <a:ext cx="594360" cy="594360"/>
          </a:xfrm>
          <a:prstGeom prst="ellipse">
            <a:avLst/>
          </a:prstGeom>
          <a:solidFill>
            <a:srgbClr val="0F9DA6"/>
          </a:solidFill>
          <a:ln/>
        </p:spPr>
      </p:sp>
      <p:pic>
        <p:nvPicPr>
          <p:cNvPr id="11" name="Image 1" descr="/home/claude/phishing_ppt/icons/userTi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162" y="204597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560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9432" y="28986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targeted message aimed at one specific person, built using details found about them online.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10144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83A5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61604" y="1897380"/>
            <a:ext cx="594360" cy="594360"/>
          </a:xfrm>
          <a:prstGeom prst="ellipse">
            <a:avLst/>
          </a:prstGeom>
          <a:solidFill>
            <a:srgbClr val="0F9DA6"/>
          </a:solidFill>
          <a:ln/>
        </p:spPr>
      </p:sp>
      <p:pic>
        <p:nvPicPr>
          <p:cNvPr id="16" name="Image 2" descr="/home/claude/phishing_ppt/icons/crown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0194" y="204597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84464" y="2560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84464" y="28986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pointed squarely at executives or other high-value targets in an organization.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83A5C"/>
          </a:solidFill>
          <a:ln/>
        </p:spPr>
      </p:sp>
      <p:sp>
        <p:nvSpPr>
          <p:cNvPr id="20" name="Shape 15"/>
          <p:cNvSpPr/>
          <p:nvPr/>
        </p:nvSpPr>
        <p:spPr>
          <a:xfrm>
            <a:off x="891540" y="4137660"/>
            <a:ext cx="594360" cy="594360"/>
          </a:xfrm>
          <a:prstGeom prst="ellipse">
            <a:avLst/>
          </a:prstGeom>
          <a:solidFill>
            <a:srgbClr val="0F9DA6"/>
          </a:solidFill>
          <a:ln/>
        </p:spPr>
      </p:sp>
      <p:pic>
        <p:nvPicPr>
          <p:cNvPr id="21" name="Image 3" descr="/home/claude/phishing_ppt/icons/sm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" y="428625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8006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51389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delivered through an SMS text, usually carrying a shortened, disguised link.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9319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83A5C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6572" y="4137660"/>
            <a:ext cx="594360" cy="594360"/>
          </a:xfrm>
          <a:prstGeom prst="ellipse">
            <a:avLst/>
          </a:prstGeom>
          <a:solidFill>
            <a:srgbClr val="0F9DA6"/>
          </a:solidFill>
          <a:ln/>
        </p:spPr>
      </p:sp>
      <p:pic>
        <p:nvPicPr>
          <p:cNvPr id="26" name="Image 4" descr="/home/claude/phishing_ppt/icons/phon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5162" y="428625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8006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99432" y="51389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call from someone posing as your bank, the tax department, or similar authority.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10144" y="39319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83A5C"/>
          </a:solidFill>
          <a:ln/>
        </p:spPr>
      </p:sp>
      <p:sp>
        <p:nvSpPr>
          <p:cNvPr id="30" name="Shape 23"/>
          <p:cNvSpPr/>
          <p:nvPr/>
        </p:nvSpPr>
        <p:spPr>
          <a:xfrm>
            <a:off x="8261604" y="4137660"/>
            <a:ext cx="594360" cy="594360"/>
          </a:xfrm>
          <a:prstGeom prst="ellipse">
            <a:avLst/>
          </a:prstGeom>
          <a:solidFill>
            <a:srgbClr val="0F9DA6"/>
          </a:solidFill>
          <a:ln/>
        </p:spPr>
      </p:sp>
      <p:pic>
        <p:nvPicPr>
          <p:cNvPr id="31" name="Image 5" descr="/home/claude/phishing_ppt/icons/clone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0194" y="4286250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84464" y="48006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/ Pharming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84464" y="51389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copied website, or a redirected page, that quietly records whatever you type into it.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FALAK SHAIKH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Attackers Do This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67512" y="1810512"/>
            <a:ext cx="713232" cy="713232"/>
          </a:xfrm>
          <a:prstGeom prst="ellipse">
            <a:avLst/>
          </a:prstGeom>
          <a:solidFill>
            <a:srgbClr val="FBE2E4"/>
          </a:solidFill>
          <a:ln/>
        </p:spPr>
      </p:sp>
      <p:pic>
        <p:nvPicPr>
          <p:cNvPr id="4" name="Image 0" descr="/home/claude/phishing_ppt/icons/key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988820"/>
            <a:ext cx="356616" cy="35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80136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login credentials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508760" y="214884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into your accounts and impersonate you elsewhere.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91072" y="1810512"/>
            <a:ext cx="713232" cy="713232"/>
          </a:xfrm>
          <a:prstGeom prst="ellipse">
            <a:avLst/>
          </a:prstGeom>
          <a:solidFill>
            <a:srgbClr val="FBE2E4"/>
          </a:solidFill>
          <a:ln/>
        </p:spPr>
      </p:sp>
      <p:pic>
        <p:nvPicPr>
          <p:cNvPr id="8" name="Image 1" descr="/home/claude/phishing_ppt/icons/money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1988820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0" y="180136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financial theft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132320" y="214884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a bank account or push through fraudulent purchases.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67512" y="3273552"/>
            <a:ext cx="713232" cy="713232"/>
          </a:xfrm>
          <a:prstGeom prst="ellipse">
            <a:avLst/>
          </a:prstGeom>
          <a:solidFill>
            <a:srgbClr val="FBE2E4"/>
          </a:solidFill>
          <a:ln/>
        </p:spPr>
      </p:sp>
      <p:pic>
        <p:nvPicPr>
          <p:cNvPr id="12" name="Image 2" descr="/home/claude/phishing_ppt/icons/idCard_c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451860"/>
            <a:ext cx="356616" cy="3566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26440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theft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508760" y="361188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personal details to open loans or accounts in your name.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291072" y="3273552"/>
            <a:ext cx="713232" cy="713232"/>
          </a:xfrm>
          <a:prstGeom prst="ellipse">
            <a:avLst/>
          </a:prstGeom>
          <a:solidFill>
            <a:srgbClr val="FBE2E4"/>
          </a:solidFill>
          <a:ln/>
        </p:spPr>
      </p:sp>
      <p:pic>
        <p:nvPicPr>
          <p:cNvPr id="16" name="Image 3" descr="/home/claude/phishing_ppt/icons/bug_cor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9380" y="3451860"/>
            <a:ext cx="356616" cy="35661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32320" y="326440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malware or ransomware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7132320" y="361188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deeper access to a device, or lock it and demand a ransom.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67512" y="4736592"/>
            <a:ext cx="713232" cy="713232"/>
          </a:xfrm>
          <a:prstGeom prst="ellipse">
            <a:avLst/>
          </a:prstGeom>
          <a:solidFill>
            <a:srgbClr val="FBE2E4"/>
          </a:solidFill>
          <a:ln/>
        </p:spPr>
      </p:sp>
      <p:pic>
        <p:nvPicPr>
          <p:cNvPr id="20" name="Image 4" descr="/home/claude/phishing_ppt/icons/briefcase_cor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" y="4914900"/>
            <a:ext cx="356616" cy="35661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08760" y="472744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espionage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508760" y="507492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hold of business data, client lists, or trade secrets.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291072" y="4736592"/>
            <a:ext cx="713232" cy="713232"/>
          </a:xfrm>
          <a:prstGeom prst="ellipse">
            <a:avLst/>
          </a:prstGeom>
          <a:solidFill>
            <a:srgbClr val="FBE2E4"/>
          </a:solidFill>
          <a:ln/>
        </p:spPr>
      </p:sp>
      <p:pic>
        <p:nvPicPr>
          <p:cNvPr id="24" name="Image 5" descr="/home/claude/phishing_ppt/icons/database_cor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9380" y="4914900"/>
            <a:ext cx="356616" cy="35661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132320" y="472744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harvested data</a:t>
            </a:r>
            <a:endParaRPr lang="en-US" sz="1450" dirty="0"/>
          </a:p>
        </p:txBody>
      </p:sp>
      <p:sp>
        <p:nvSpPr>
          <p:cNvPr id="26" name="Text 18"/>
          <p:cNvSpPr/>
          <p:nvPr/>
        </p:nvSpPr>
        <p:spPr>
          <a:xfrm>
            <a:off x="7132320" y="507492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details along to other criminals on the dark web.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64008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FALAK SHAIKH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Flags to Watch For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the attempt itself, before you ever click.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22376" y="1792224"/>
            <a:ext cx="566928" cy="566928"/>
          </a:xfrm>
          <a:prstGeom prst="ellipse">
            <a:avLst/>
          </a:prstGeom>
          <a:solidFill>
            <a:srgbClr val="D9F0F2"/>
          </a:solidFill>
          <a:ln/>
        </p:spPr>
      </p:sp>
      <p:pic>
        <p:nvPicPr>
          <p:cNvPr id="5" name="Image 0" descr="/home/claude/phishing_ppt/icons/exclamation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1933956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830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sender address that looks close, but isn’t quite right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22376" y="2505456"/>
            <a:ext cx="566928" cy="566928"/>
          </a:xfrm>
          <a:prstGeom prst="ellipse">
            <a:avLst/>
          </a:prstGeom>
          <a:solidFill>
            <a:srgbClr val="D9F0F2"/>
          </a:solidFill>
          <a:ln/>
        </p:spPr>
      </p:sp>
      <p:pic>
        <p:nvPicPr>
          <p:cNvPr id="8" name="Image 1" descr="/home/claude/phishing_ppt/icons/clo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2647188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49631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or threatening language demanding instant action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22376" y="3218688"/>
            <a:ext cx="566928" cy="566928"/>
          </a:xfrm>
          <a:prstGeom prst="ellipse">
            <a:avLst/>
          </a:prstGeom>
          <a:solidFill>
            <a:srgbClr val="D9F0F2"/>
          </a:solidFill>
          <a:ln/>
        </p:spPr>
      </p:sp>
      <p:pic>
        <p:nvPicPr>
          <p:cNvPr id="11" name="Image 2" descr="/home/claude/phishing_ppt/icons/userSlash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3360420"/>
            <a:ext cx="283464" cy="2834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3209544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"Dear Customer" instead of your actual name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22376" y="3931920"/>
            <a:ext cx="566928" cy="566928"/>
          </a:xfrm>
          <a:prstGeom prst="ellipse">
            <a:avLst/>
          </a:prstGeom>
          <a:solidFill>
            <a:srgbClr val="D9F0F2"/>
          </a:solidFill>
          <a:ln/>
        </p:spPr>
      </p:sp>
      <p:pic>
        <p:nvPicPr>
          <p:cNvPr id="14" name="Image 3" descr="/home/claude/phishing_ppt/icons/link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" y="4073652"/>
            <a:ext cx="283464" cy="28346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8760" y="3922776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 that doesn’t match the real company once you hover over it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722376" y="4645152"/>
            <a:ext cx="566928" cy="566928"/>
          </a:xfrm>
          <a:prstGeom prst="ellipse">
            <a:avLst/>
          </a:prstGeom>
          <a:solidFill>
            <a:srgbClr val="D9F0F2"/>
          </a:solidFill>
          <a:ln/>
        </p:spPr>
      </p:sp>
      <p:pic>
        <p:nvPicPr>
          <p:cNvPr id="17" name="Image 4" descr="/home/claude/phishing_ppt/icons/paperclip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" y="4786884"/>
            <a:ext cx="283464" cy="28346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508760" y="463600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attachment you never asked for or expected to receive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722376" y="5358384"/>
            <a:ext cx="566928" cy="566928"/>
          </a:xfrm>
          <a:prstGeom prst="ellipse">
            <a:avLst/>
          </a:prstGeom>
          <a:solidFill>
            <a:srgbClr val="D9F0F2"/>
          </a:solidFill>
          <a:ln/>
        </p:spPr>
      </p:sp>
      <p:pic>
        <p:nvPicPr>
          <p:cNvPr id="20" name="Image 5" descr="/home/claude/phishing_ppt/icons/spellCheck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108" y="5500116"/>
            <a:ext cx="283464" cy="28346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508760" y="53492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mistakes or sentences that just read a bit oddly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FALAK SHAIKH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You Already Been Caught Out?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17320" y="1773936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emails that you never actually requested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4871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43230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on a bank or card statement that you don’t recognize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1455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309067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telling you they got a strange message that looked like it came from you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38039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7490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that’s suddenly slower, or pop-ups that weren’t there before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4622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440740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about a sign-in from a device or location you don’t recognize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22960" y="5120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5065776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locked out of an account you use every day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FALAK SHAIKH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Think You’ve Been Phished, Act Fast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hour matters the most, so work through these steps in order.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17320" y="2834640"/>
            <a:ext cx="9144000" cy="0"/>
          </a:xfrm>
          <a:prstGeom prst="line">
            <a:avLst/>
          </a:prstGeom>
          <a:noFill/>
          <a:ln w="38100">
            <a:solidFill>
              <a:srgbClr val="E7EC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2446020"/>
            <a:ext cx="777240" cy="777240"/>
          </a:xfrm>
          <a:prstGeom prst="ellipse">
            <a:avLst/>
          </a:prstGeom>
          <a:solidFill>
            <a:srgbClr val="0F9DA6"/>
          </a:solidFill>
          <a:ln/>
        </p:spPr>
      </p:sp>
      <p:pic>
        <p:nvPicPr>
          <p:cNvPr id="6" name="Image 0" descr="/home/claude/phishing_ppt/icons/pause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" y="26481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6152" y="22677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82880" y="3337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calm &amp; disconnect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2880" y="38862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malware might be involved, take the device off Wi-Fi.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83180" y="2446020"/>
            <a:ext cx="777240" cy="777240"/>
          </a:xfrm>
          <a:prstGeom prst="ellipse">
            <a:avLst/>
          </a:prstGeom>
          <a:solidFill>
            <a:srgbClr val="0F9DA6"/>
          </a:solidFill>
          <a:ln/>
        </p:spPr>
      </p:sp>
      <p:pic>
        <p:nvPicPr>
          <p:cNvPr id="11" name="Image 1" descr="/home/claude/phishing_ppt/icons/ke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262" y="264810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27832" y="22677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194560" y="3337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passwords now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194560" y="38862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affected account and anywhere you reused it.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94860" y="2446020"/>
            <a:ext cx="777240" cy="777240"/>
          </a:xfrm>
          <a:prstGeom prst="ellipse">
            <a:avLst/>
          </a:prstGeom>
          <a:solidFill>
            <a:srgbClr val="0F9DA6"/>
          </a:solidFill>
          <a:ln/>
        </p:spPr>
      </p:sp>
      <p:pic>
        <p:nvPicPr>
          <p:cNvPr id="16" name="Image 2" descr="/home/claude/phishing_ppt/icons/shieldA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942" y="264810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39512" y="22677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206240" y="3337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2FA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206240" y="38862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two-factor authentication if it isn’t active already.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606540" y="2446020"/>
            <a:ext cx="777240" cy="777240"/>
          </a:xfrm>
          <a:prstGeom prst="ellipse">
            <a:avLst/>
          </a:prstGeom>
          <a:solidFill>
            <a:srgbClr val="0F9DA6"/>
          </a:solidFill>
          <a:ln/>
        </p:spPr>
      </p:sp>
      <p:pic>
        <p:nvPicPr>
          <p:cNvPr id="21" name="Image 3" descr="/home/claude/phishing_ppt/icons/universit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8622" y="264810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51192" y="22677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217920" y="3337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your bank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217920" y="38862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straightaway if money or card details were involved.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8618220" y="2446020"/>
            <a:ext cx="777240" cy="777240"/>
          </a:xfrm>
          <a:prstGeom prst="ellipse">
            <a:avLst/>
          </a:prstGeom>
          <a:solidFill>
            <a:srgbClr val="0F9DA6"/>
          </a:solidFill>
          <a:ln/>
        </p:spPr>
      </p:sp>
      <p:pic>
        <p:nvPicPr>
          <p:cNvPr id="26" name="Image 4" descr="/home/claude/phishing_ppt/icons/sear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0302" y="2648102"/>
            <a:ext cx="373075" cy="37307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62872" y="22677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8229600" y="3337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your device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229600" y="38862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full antivirus or anti-malware check.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10629900" y="2446020"/>
            <a:ext cx="777240" cy="777240"/>
          </a:xfrm>
          <a:prstGeom prst="ellipse">
            <a:avLst/>
          </a:prstGeom>
          <a:solidFill>
            <a:srgbClr val="0F9DA6"/>
          </a:solidFill>
          <a:ln/>
        </p:spPr>
      </p:sp>
      <p:pic>
        <p:nvPicPr>
          <p:cNvPr id="31" name="Image 5" descr="/home/claude/phishing_ppt/icons/flag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1982" y="2648102"/>
            <a:ext cx="373075" cy="37307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274552" y="22677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10241280" y="3337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incident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0241280" y="38862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IT team, your bank, or the cybercrime authority.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FALAK SHAIKH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Out. You’re Not Alone in This.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contact if you suspect a phishing attack, for readers in India.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283A5C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" y="2034540"/>
            <a:ext cx="685800" cy="685800"/>
          </a:xfrm>
          <a:prstGeom prst="ellipse">
            <a:avLst/>
          </a:prstGeom>
          <a:solidFill>
            <a:srgbClr val="0F9DA6"/>
          </a:solidFill>
          <a:ln/>
        </p:spPr>
      </p:sp>
      <p:pic>
        <p:nvPicPr>
          <p:cNvPr id="6" name="Image 0" descr="/home/claude/phishing_ppt/icons/phon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220599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476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1930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828800" y="2496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 Crime Helpline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2926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Toll-free, available 24x7, for financial fraud and cybercrime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178308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283A5C"/>
          </a:solidFill>
          <a:ln/>
        </p:spPr>
      </p:sp>
      <p:sp>
        <p:nvSpPr>
          <p:cNvPr id="11" name="Shape 8"/>
          <p:cNvSpPr/>
          <p:nvPr/>
        </p:nvSpPr>
        <p:spPr>
          <a:xfrm>
            <a:off x="6515100" y="2034540"/>
            <a:ext cx="685800" cy="685800"/>
          </a:xfrm>
          <a:prstGeom prst="ellipse">
            <a:avLst/>
          </a:prstGeom>
          <a:solidFill>
            <a:srgbClr val="0F9DA6"/>
          </a:solidFill>
          <a:ln/>
        </p:spPr>
      </p:sp>
      <p:pic>
        <p:nvPicPr>
          <p:cNvPr id="12" name="Image 1" descr="/home/claude/phishing_ppt/icons/glob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220599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19476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cybercrime.gov.in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406640" y="2496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 Crime Reporting Portal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92240" y="2926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 complaint online, any time of day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384048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283A5C"/>
          </a:solidFill>
          <a:ln/>
        </p:spPr>
      </p:sp>
      <p:sp>
        <p:nvSpPr>
          <p:cNvPr id="17" name="Shape 13"/>
          <p:cNvSpPr/>
          <p:nvPr/>
        </p:nvSpPr>
        <p:spPr>
          <a:xfrm>
            <a:off x="937260" y="4091940"/>
            <a:ext cx="685800" cy="685800"/>
          </a:xfrm>
          <a:prstGeom prst="ellipse">
            <a:avLst/>
          </a:prstGeom>
          <a:solidFill>
            <a:srgbClr val="0F9DA6"/>
          </a:solidFill>
          <a:ln/>
        </p:spPr>
      </p:sp>
      <p:pic>
        <p:nvPicPr>
          <p:cNvPr id="18" name="Image 2" descr="/home/claude/phishing_ppt/icons/shieldAlt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10" y="4263390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40050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en-US" sz="2700" dirty="0"/>
          </a:p>
        </p:txBody>
      </p:sp>
      <p:sp>
        <p:nvSpPr>
          <p:cNvPr id="20" name="Text 15"/>
          <p:cNvSpPr/>
          <p:nvPr/>
        </p:nvSpPr>
        <p:spPr>
          <a:xfrm>
            <a:off x="1828800" y="4553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Police Emergency Number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914400" y="4983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urgent, in-progress emergencies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217920" y="384048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283A5C"/>
          </a:solidFill>
          <a:ln/>
        </p:spPr>
      </p:sp>
      <p:sp>
        <p:nvSpPr>
          <p:cNvPr id="23" name="Shape 18"/>
          <p:cNvSpPr/>
          <p:nvPr/>
        </p:nvSpPr>
        <p:spPr>
          <a:xfrm>
            <a:off x="6515100" y="4091940"/>
            <a:ext cx="685800" cy="685800"/>
          </a:xfrm>
          <a:prstGeom prst="ellipse">
            <a:avLst/>
          </a:prstGeom>
          <a:solidFill>
            <a:srgbClr val="0F9DA6"/>
          </a:solidFill>
          <a:ln/>
        </p:spPr>
      </p:sp>
      <p:pic>
        <p:nvPicPr>
          <p:cNvPr id="24" name="Image 3" descr="/home/claude/phishing_ppt/icons/headse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6550" y="4263390"/>
            <a:ext cx="342900" cy="3429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06640" y="40050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1800-11-4949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7406640" y="4553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 Incident Helpdesk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492240" y="4983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national cybersecurity response team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4008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India? Look up your own country’s cybercrime or CERT authority. Most run something similar: a 24x7 hotline plus an online portal.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FALAK SHAIKH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HABITS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These Habits 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1540" y="2080260"/>
            <a:ext cx="594360" cy="594360"/>
          </a:xfrm>
          <a:prstGeom prst="ellipse">
            <a:avLst/>
          </a:prstGeom>
          <a:solidFill>
            <a:srgbClr val="D9F0F2"/>
          </a:solidFill>
          <a:ln/>
        </p:spPr>
      </p:sp>
      <p:pic>
        <p:nvPicPr>
          <p:cNvPr id="6" name="Image 0" descr="/home/claude/phishing_ppt/icons/search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22288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432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verify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0815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sender through a separate, known channel before acting on anything.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A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6572" y="2080260"/>
            <a:ext cx="594360" cy="594360"/>
          </a:xfrm>
          <a:prstGeom prst="ellipse">
            <a:avLst/>
          </a:prstGeom>
          <a:solidFill>
            <a:srgbClr val="D9F0F2"/>
          </a:solidFill>
          <a:ln/>
        </p:spPr>
      </p:sp>
      <p:pic>
        <p:nvPicPr>
          <p:cNvPr id="11" name="Image 1" descr="/home/claude/phishing_ppt/icons/mousePointer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162" y="22288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7432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you click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99432" y="30815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where a link actually leads before you follow it.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10144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A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61604" y="2080260"/>
            <a:ext cx="594360" cy="594360"/>
          </a:xfrm>
          <a:prstGeom prst="ellipse">
            <a:avLst/>
          </a:prstGeom>
          <a:solidFill>
            <a:srgbClr val="D9F0F2"/>
          </a:solidFill>
          <a:ln/>
        </p:spPr>
      </p:sp>
      <p:pic>
        <p:nvPicPr>
          <p:cNvPr id="16" name="Image 2" descr="/home/claude/phishing_ppt/icons/loc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0194" y="222885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84464" y="27432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OTPs or PINs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84464" y="30815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genuine bank or company will ever ask you for these over phone or email.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114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A44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1540" y="4320540"/>
            <a:ext cx="594360" cy="594360"/>
          </a:xfrm>
          <a:prstGeom prst="ellipse">
            <a:avLst/>
          </a:prstGeom>
          <a:solidFill>
            <a:srgbClr val="D9F0F2"/>
          </a:solidFill>
          <a:ln/>
        </p:spPr>
      </p:sp>
      <p:pic>
        <p:nvPicPr>
          <p:cNvPr id="21" name="Image 3" descr="/home/claude/phishing_ppt/icons/key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" y="446913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983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unique passwords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4400" y="53218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different, strong password for every account you hold.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5112" y="4114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A44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6572" y="4320540"/>
            <a:ext cx="594360" cy="594360"/>
          </a:xfrm>
          <a:prstGeom prst="ellipse">
            <a:avLst/>
          </a:prstGeom>
          <a:solidFill>
            <a:srgbClr val="D9F0F2"/>
          </a:solidFill>
          <a:ln/>
        </p:spPr>
      </p:sp>
      <p:pic>
        <p:nvPicPr>
          <p:cNvPr id="26" name="Image 4" descr="/home/claude/phishing_ppt/icons/mobileAlt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5162" y="446913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983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two-factor authentication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99432" y="53218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it on wherever it’s offered, especially for email and banking.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10144" y="4114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A44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61604" y="4320540"/>
            <a:ext cx="594360" cy="594360"/>
          </a:xfrm>
          <a:prstGeom prst="ellipse">
            <a:avLst/>
          </a:prstGeom>
          <a:solidFill>
            <a:srgbClr val="D9F0F2"/>
          </a:solidFill>
          <a:ln/>
        </p:spPr>
      </p:sp>
      <p:pic>
        <p:nvPicPr>
          <p:cNvPr id="31" name="Image 5" descr="/home/claude/phishing_ppt/icons/syncAlt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0194" y="4469130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84464" y="4983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everything updated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84464" y="53218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apps, browser, and operating system as they prompt you.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FALAK SHAIKH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SAFEGUARDS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Technology Back You 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1540" y="2080260"/>
            <a:ext cx="594360" cy="594360"/>
          </a:xfrm>
          <a:prstGeom prst="ellipse">
            <a:avLst/>
          </a:prstGeom>
          <a:solidFill>
            <a:srgbClr val="FBE2E4"/>
          </a:solidFill>
          <a:ln/>
        </p:spPr>
      </p:sp>
      <p:pic>
        <p:nvPicPr>
          <p:cNvPr id="6" name="Image 0" descr="/home/claude/phishing_ppt/icons/filter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22288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432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&amp; phishing filters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0815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them on in your email client and let them do the sorting.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A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6572" y="2080260"/>
            <a:ext cx="594360" cy="594360"/>
          </a:xfrm>
          <a:prstGeom prst="ellipse">
            <a:avLst/>
          </a:prstGeom>
          <a:solidFill>
            <a:srgbClr val="FBE2E4"/>
          </a:solidFill>
          <a:ln/>
        </p:spPr>
      </p:sp>
      <p:pic>
        <p:nvPicPr>
          <p:cNvPr id="11" name="Image 1" descr="/home/claude/phishing_ppt/icons/shieldVirus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162" y="22288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7432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/ anti-malware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99432" y="30815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reputable security tool and keep it updated.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10144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A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61604" y="2080260"/>
            <a:ext cx="594360" cy="594360"/>
          </a:xfrm>
          <a:prstGeom prst="ellipse">
            <a:avLst/>
          </a:prstGeom>
          <a:solidFill>
            <a:srgbClr val="FBE2E4"/>
          </a:solidFill>
          <a:ln/>
        </p:spPr>
      </p:sp>
      <p:pic>
        <p:nvPicPr>
          <p:cNvPr id="16" name="Image 2" descr="/home/claude/phishing_ppt/icons/globe_c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0194" y="222885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84464" y="27432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protection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84464" y="30815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browser that warns you about phishing and malware sites.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114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A44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1540" y="4320540"/>
            <a:ext cx="594360" cy="594360"/>
          </a:xfrm>
          <a:prstGeom prst="ellipse">
            <a:avLst/>
          </a:prstGeom>
          <a:solidFill>
            <a:srgbClr val="FBE2E4"/>
          </a:solidFill>
          <a:ln/>
        </p:spPr>
      </p:sp>
      <p:pic>
        <p:nvPicPr>
          <p:cNvPr id="21" name="Image 3" descr="/home/claude/phishing_ppt/icons/wifi_cor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" y="446913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983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on public Wi-Fi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4400" y="53218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your connection on networks you don’t control.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5112" y="4114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A44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6572" y="4320540"/>
            <a:ext cx="594360" cy="594360"/>
          </a:xfrm>
          <a:prstGeom prst="ellipse">
            <a:avLst/>
          </a:prstGeom>
          <a:solidFill>
            <a:srgbClr val="FBE2E4"/>
          </a:solidFill>
          <a:ln/>
        </p:spPr>
      </p:sp>
      <p:pic>
        <p:nvPicPr>
          <p:cNvPr id="26" name="Image 4" descr="/home/claude/phishing_ppt/icons/save_cor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5162" y="446913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983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backups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99432" y="53218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copies of important data in case ransomware ever hits.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10144" y="4114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A44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61604" y="4320540"/>
            <a:ext cx="594360" cy="594360"/>
          </a:xfrm>
          <a:prstGeom prst="ellipse">
            <a:avLst/>
          </a:prstGeom>
          <a:solidFill>
            <a:srgbClr val="FBE2E4"/>
          </a:solidFill>
          <a:ln/>
        </p:spPr>
      </p:sp>
      <p:pic>
        <p:nvPicPr>
          <p:cNvPr id="31" name="Image 5" descr="/home/claude/phishing_ppt/icons/chalkboard_cor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0194" y="4469130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84464" y="4983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informed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84464" y="53218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the basics now and then. Attackers keep changing tactics.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FALAK SHAIKH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58500" y="388620"/>
            <a:ext cx="777240" cy="777240"/>
          </a:xfrm>
          <a:prstGeom prst="ellipse">
            <a:avLst/>
          </a:prstGeom>
          <a:solidFill>
            <a:srgbClr val="0F9DA6"/>
          </a:solidFill>
          <a:ln/>
        </p:spPr>
      </p:sp>
      <p:pic>
        <p:nvPicPr>
          <p:cNvPr id="3" name="Image 0" descr="/home/claude/phishing_ppt/icons/ques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2810" y="58293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Quiz — Test Yourself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2. No peeking at the earlier slides!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283A5C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920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bank email urges you to "verify your account within 1 hour or lose access." What should you do first?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235000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Click the link in the email right away     |     B. Reply to the email with your password     |     C. Go directly to the bank’s official app or website     |     D. Ignore it without checking anything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355848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283A5C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49300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of these is a common phishing red flag?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14400" y="3922776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personalized greeting with your correct name     |     B. A generic "Dear Customer" greeting     |     C. An email sent during normal business hours     |     D. A message with no links at all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4928616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283A5C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506577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"Smishing" refers to phishing carried out through: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914400" y="5495544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Phone calls     |     B. SMS text messages     |     C. Physical mail     |     D. Fax machines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FALAK SHAIKH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Quiz — Part 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questions, then check your answers below.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283A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You realize you’ve just entered your password on a fake site. Your very first move?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Wait and see if anything happens     |     B. Change that password immediately     |     C. Restart your computer     |     D. Post about it on social media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227832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283A5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649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Which number connects you to India’s national cyber crime helpline?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77647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100     |     B. 1930     |     C. 108     |     D. 1099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809744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F9DA6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499262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/home/claude/phishing_ppt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" y="5116068"/>
            <a:ext cx="301752" cy="3017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737360" y="4809744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Key:   1-C     2-B     3-B     4-B     5-B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FALAK SHAIKH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3840480"/>
          </a:xfrm>
          <a:prstGeom prst="ellipse">
            <a:avLst/>
          </a:prstGeom>
          <a:solidFill>
            <a:srgbClr val="223756"/>
          </a:solidFill>
          <a:ln/>
        </p:spPr>
      </p:sp>
      <p:sp>
        <p:nvSpPr>
          <p:cNvPr id="3" name="Shape 1"/>
          <p:cNvSpPr/>
          <p:nvPr/>
        </p:nvSpPr>
        <p:spPr>
          <a:xfrm>
            <a:off x="8937971" y="3566160"/>
            <a:ext cx="3108960" cy="3108960"/>
          </a:xfrm>
          <a:prstGeom prst="ellipse">
            <a:avLst/>
          </a:prstGeom>
          <a:solidFill>
            <a:srgbClr val="223756"/>
          </a:solidFill>
          <a:ln/>
        </p:spPr>
      </p:sp>
      <p:sp>
        <p:nvSpPr>
          <p:cNvPr id="4" name="Shape 2"/>
          <p:cNvSpPr/>
          <p:nvPr/>
        </p:nvSpPr>
        <p:spPr>
          <a:xfrm>
            <a:off x="5547208" y="1554480"/>
            <a:ext cx="1097280" cy="1097280"/>
          </a:xfrm>
          <a:prstGeom prst="ellipse">
            <a:avLst/>
          </a:prstGeom>
          <a:solidFill>
            <a:srgbClr val="0F9DA6"/>
          </a:solidFill>
          <a:ln/>
        </p:spPr>
      </p:sp>
      <p:pic>
        <p:nvPicPr>
          <p:cNvPr id="5" name="Image 0" descr="/home/claude/phishing_ppt/icons/shieldA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18288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8803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7033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F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alert, stay a little skeptical, and think twice before you click.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4663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FALAK SHAIKH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1396</Words>
  <Application>Microsoft Office PowerPoint</Application>
  <PresentationFormat>Widescreen</PresentationFormat>
  <Paragraphs>193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2</cp:revision>
  <dcterms:created xsi:type="dcterms:W3CDTF">2026-08-16T06:30:45Z</dcterms:created>
  <dcterms:modified xsi:type="dcterms:W3CDTF">2026-08-17T07:10:41Z</dcterms:modified>
</cp:coreProperties>
</file>